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45920"/>
            <a:ext cx="9601200" cy="3200400"/>
          </a:xfrm>
          <a:prstGeom prst="rect">
            <a:avLst/>
          </a:prstGeom>
          <a:noFill/>
        </p:spPr>
        <p:txBody>
          <a:bodyPr wrap="square">
            <a:spAutoFit/>
          </a:bodyPr>
          <a:lstStyle/>
          <a:p>
            <a:pPr>
              <a:spcAft>
                <a:spcPts val="800"/>
              </a:spcAft>
              <a:defRPr sz="1400" b="1">
                <a:solidFill>
                  <a:srgbClr val="C2410C"/>
                </a:solidFill>
                <a:latin typeface="Meiryo"/>
              </a:defRPr>
            </a:pPr>
            <a:r>
              <a:t>作品プレゼンテーション（5分）</a:t>
            </a:r>
          </a:p>
          <a:p>
            <a:pPr>
              <a:spcAft>
                <a:spcPts val="400"/>
              </a:spcAft>
              <a:defRPr sz="4400" b="1">
                <a:solidFill>
                  <a:srgbClr val="1E293B"/>
                </a:solidFill>
                <a:latin typeface="Meiryo"/>
              </a:defRPr>
            </a:pPr>
            <a:r>
              <a:t>ダッシューティングダック</a:t>
            </a:r>
          </a:p>
          <a:p>
            <a:pPr>
              <a:spcAft>
                <a:spcPts val="1400"/>
              </a:spcAft>
              <a:defRPr sz="2000" b="1">
                <a:solidFill>
                  <a:srgbClr val="64748B"/>
                </a:solidFill>
                <a:latin typeface="Arial"/>
              </a:defRPr>
            </a:pPr>
            <a:r>
              <a:t>DASH SHOOTING DUCK</a:t>
            </a:r>
          </a:p>
          <a:p>
            <a:pPr>
              <a:spcAft>
                <a:spcPts val="2400"/>
              </a:spcAft>
              <a:defRPr sz="1700">
                <a:solidFill>
                  <a:srgbClr val="334155"/>
                </a:solidFill>
                <a:latin typeface="Meiryo"/>
              </a:defRPr>
            </a:pPr>
            <a:r>
              <a:t>足音や銃声で敵と駆け引きする、3Dシューティングアクション</a:t>
            </a:r>
          </a:p>
        </p:txBody>
      </p:sp>
      <p:sp>
        <p:nvSpPr>
          <p:cNvPr id="5" name="Rounded Rectangle 4"/>
          <p:cNvSpPr/>
          <p:nvPr/>
        </p:nvSpPr>
        <p:spPr>
          <a:xfrm>
            <a:off x="1097280" y="4389120"/>
            <a:ext cx="1645920" cy="411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1E293B"/>
                </a:solidFill>
                <a:latin typeface="Meiryo"/>
              </a:defRPr>
            </a:pPr>
            <a:r>
              <a:t>個人制作</a:t>
            </a:r>
          </a:p>
        </p:txBody>
      </p:sp>
      <p:sp>
        <p:nvSpPr>
          <p:cNvPr id="6" name="Rounded Rectangle 5"/>
          <p:cNvSpPr/>
          <p:nvPr/>
        </p:nvSpPr>
        <p:spPr>
          <a:xfrm>
            <a:off x="2834640" y="4389120"/>
            <a:ext cx="1645920" cy="411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1E293B"/>
                </a:solidFill>
                <a:latin typeface="Meiryo"/>
              </a:defRPr>
            </a:pPr>
            <a:r>
              <a:t>C++ / DirectX 12</a:t>
            </a:r>
          </a:p>
        </p:txBody>
      </p:sp>
      <p:sp>
        <p:nvSpPr>
          <p:cNvPr id="7" name="Rounded Rectangle 6"/>
          <p:cNvSpPr/>
          <p:nvPr/>
        </p:nvSpPr>
        <p:spPr>
          <a:xfrm>
            <a:off x="4572000" y="4389120"/>
            <a:ext cx="1645920" cy="411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1E293B"/>
                </a:solidFill>
                <a:latin typeface="Meiryo"/>
              </a:defRPr>
            </a:pPr>
            <a:r>
              <a:t>自作エディタ・ツール開発</a:t>
            </a:r>
          </a:p>
        </p:txBody>
      </p:sp>
      <p:sp>
        <p:nvSpPr>
          <p:cNvPr id="8" name="Rounded Rectangle 7"/>
          <p:cNvSpPr/>
          <p:nvPr/>
        </p:nvSpPr>
        <p:spPr>
          <a:xfrm>
            <a:off x="6309360" y="4389120"/>
            <a:ext cx="1645920" cy="411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1E293B"/>
                </a:solidFill>
                <a:latin typeface="Meiryo"/>
              </a:defRPr>
            </a:pPr>
            <a:r>
              <a:t>敵AI知覚連携</a:t>
            </a:r>
          </a:p>
        </p:txBody>
      </p:sp>
      <p:sp>
        <p:nvSpPr>
          <p:cNvPr id="9" name="Rounded Rectangle 8"/>
          <p:cNvSpPr/>
          <p:nvPr/>
        </p:nvSpPr>
        <p:spPr>
          <a:xfrm>
            <a:off x="8046720" y="4389120"/>
            <a:ext cx="1645920" cy="411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1E293B"/>
                </a:solidFill>
                <a:latin typeface="Meiryo"/>
              </a:defRPr>
            </a:pPr>
            <a:r>
              <a:t>シューティング手触り設計</a:t>
            </a:r>
          </a:p>
        </p:txBody>
      </p:sp>
      <p:sp>
        <p:nvSpPr>
          <p:cNvPr id="10" name="TextBox 9"/>
          <p:cNvSpPr txBox="1"/>
          <p:nvPr/>
        </p:nvSpPr>
        <p:spPr>
          <a:xfrm>
            <a:off x="6858000" y="5303520"/>
            <a:ext cx="4114800" cy="914400"/>
          </a:xfrm>
          <a:prstGeom prst="rect">
            <a:avLst/>
          </a:prstGeom>
          <a:noFill/>
        </p:spPr>
        <p:txBody>
          <a:bodyPr wrap="none">
            <a:spAutoFit/>
          </a:bodyPr>
          <a:lstStyle/>
          <a:p>
            <a:pPr algn="r">
              <a:defRPr sz="1500" b="1">
                <a:solidFill>
                  <a:srgbClr val="1E293B"/>
                </a:solidFill>
                <a:latin typeface="Meiryo"/>
              </a:defRPr>
            </a:pPr>
            <a:r>
              <a:t>発表者：コウダ アユ</a:t>
            </a:r>
          </a:p>
          <a:p>
            <a:pPr algn="r">
              <a:defRPr sz="1200">
                <a:solidFill>
                  <a:srgbClr val="64748B"/>
                </a:solidFill>
                <a:latin typeface="Meiryo"/>
              </a:defRPr>
            </a:pPr>
            <a:r>
              <a:t>制作期間：約6ヶ月（エンジン＋ゲーム＋ツール）</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200"/>
              </a:spcAft>
              <a:defRPr sz="1100" b="1">
                <a:solidFill>
                  <a:srgbClr val="C2410C"/>
                </a:solidFill>
                <a:latin typeface="Meiryo"/>
              </a:defRPr>
            </a:pPr>
            <a:r>
              <a:t>01 ｜ ゲーム概要</a:t>
            </a:r>
          </a:p>
          <a:p>
            <a:pPr>
              <a:spcAft>
                <a:spcPts val="400"/>
              </a:spcAft>
              <a:defRPr sz="2200" b="1">
                <a:solidFill>
                  <a:srgbClr val="1E293B"/>
                </a:solidFill>
                <a:latin typeface="Meiryo"/>
              </a:defRPr>
            </a:pPr>
            <a:r>
              <a:t>ゲーム概要：廃工場を制圧し、物資を持ち帰って生還せよ</a:t>
            </a:r>
          </a:p>
          <a:p>
            <a:pPr>
              <a:defRPr sz="1300">
                <a:solidFill>
                  <a:srgbClr val="0284C7"/>
                </a:solidFill>
                <a:latin typeface="Meiryo"/>
              </a:defRPr>
            </a:pPr>
            <a:r>
              <a:t>「撃ちまくる爽快感」だけでなく、「逃げるか・挑むか」の判断を作るゲームデザイン</a:t>
            </a:r>
          </a:p>
        </p:txBody>
      </p:sp>
      <p:sp>
        <p:nvSpPr>
          <p:cNvPr id="4" name="Rounded Rectangle 3"/>
          <p:cNvSpPr/>
          <p:nvPr/>
        </p:nvSpPr>
        <p:spPr>
          <a:xfrm>
            <a:off x="731520" y="1645920"/>
            <a:ext cx="2514600" cy="640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defRPr sz="950">
                <a:solidFill>
                  <a:srgbClr val="64748B"/>
                </a:solidFill>
              </a:defRPr>
            </a:pPr>
            <a:r>
              <a:t>ジャンル</a:t>
            </a:r>
          </a:p>
          <a:p>
            <a:pPr>
              <a:defRPr sz="1200" b="1">
                <a:solidFill>
                  <a:srgbClr val="1E293B"/>
                </a:solidFill>
              </a:defRPr>
            </a:pPr>
            <a:r>
              <a:t>3Dシューティングアクション</a:t>
            </a:r>
          </a:p>
        </p:txBody>
      </p:sp>
      <p:sp>
        <p:nvSpPr>
          <p:cNvPr id="5" name="Rounded Rectangle 4"/>
          <p:cNvSpPr/>
          <p:nvPr/>
        </p:nvSpPr>
        <p:spPr>
          <a:xfrm>
            <a:off x="3429000" y="1645920"/>
            <a:ext cx="2514600" cy="640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defRPr sz="950">
                <a:solidFill>
                  <a:srgbClr val="64748B"/>
                </a:solidFill>
              </a:defRPr>
            </a:pPr>
            <a:r>
              <a:t>クリア目標</a:t>
            </a:r>
          </a:p>
          <a:p>
            <a:pPr>
              <a:defRPr sz="1200" b="1">
                <a:solidFill>
                  <a:srgbClr val="1E293B"/>
                </a:solidFill>
              </a:defRPr>
            </a:pPr>
            <a:r>
              <a:t>3箇所の拠点破壊 ➔ 脱出</a:t>
            </a:r>
          </a:p>
        </p:txBody>
      </p:sp>
      <p:sp>
        <p:nvSpPr>
          <p:cNvPr id="6" name="Rounded Rectangle 5"/>
          <p:cNvSpPr/>
          <p:nvPr/>
        </p:nvSpPr>
        <p:spPr>
          <a:xfrm>
            <a:off x="6126480" y="1645920"/>
            <a:ext cx="2514600" cy="640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defRPr sz="950">
                <a:solidFill>
                  <a:srgbClr val="64748B"/>
                </a:solidFill>
              </a:defRPr>
            </a:pPr>
            <a:r>
              <a:t>制限時間</a:t>
            </a:r>
          </a:p>
          <a:p>
            <a:pPr>
              <a:defRPr sz="1200" b="1">
                <a:solidFill>
                  <a:srgbClr val="1E293B"/>
                </a:solidFill>
              </a:defRPr>
            </a:pPr>
            <a:r>
              <a:t>5分（超過でMIA失敗）</a:t>
            </a:r>
          </a:p>
        </p:txBody>
      </p:sp>
      <p:sp>
        <p:nvSpPr>
          <p:cNvPr id="7" name="Rounded Rectangle 6"/>
          <p:cNvSpPr/>
          <p:nvPr/>
        </p:nvSpPr>
        <p:spPr>
          <a:xfrm>
            <a:off x="8823960" y="1645920"/>
            <a:ext cx="2514600" cy="640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defRPr sz="950">
                <a:solidFill>
                  <a:srgbClr val="64748B"/>
                </a:solidFill>
              </a:defRPr>
            </a:pPr>
            <a:r>
              <a:t>開発スタイル</a:t>
            </a:r>
          </a:p>
          <a:p>
            <a:pPr>
              <a:defRPr sz="1200" b="1">
                <a:solidFill>
                  <a:srgbClr val="1E293B"/>
                </a:solidFill>
              </a:defRPr>
            </a:pPr>
            <a:r>
              <a:t>個人制作（プログラム全般）</a:t>
            </a:r>
          </a:p>
        </p:txBody>
      </p:sp>
      <p:sp>
        <p:nvSpPr>
          <p:cNvPr id="8" name="TextBox 7"/>
          <p:cNvSpPr txBox="1"/>
          <p:nvPr/>
        </p:nvSpPr>
        <p:spPr>
          <a:xfrm>
            <a:off x="731520" y="2468880"/>
            <a:ext cx="5486400" cy="3840480"/>
          </a:xfrm>
          <a:prstGeom prst="rect">
            <a:avLst/>
          </a:prstGeom>
          <a:noFill/>
        </p:spPr>
        <p:txBody>
          <a:bodyPr wrap="square">
            <a:spAutoFit/>
          </a:bodyPr>
          <a:lstStyle/>
          <a:p>
            <a:pPr>
              <a:spcAft>
                <a:spcPts val="300"/>
              </a:spcAft>
              <a:defRPr sz="1350" b="1">
                <a:solidFill>
                  <a:srgbClr val="1E293B"/>
                </a:solidFill>
              </a:defRPr>
            </a:pPr>
            <a:r>
              <a:t>● 走る足音や銃声が命取りになるステルス要素</a:t>
            </a:r>
          </a:p>
          <a:p>
            <a:pPr>
              <a:spcAft>
                <a:spcPts val="1400"/>
              </a:spcAft>
              <a:defRPr sz="1150">
                <a:solidFill>
                  <a:srgbClr val="334155"/>
                </a:solidFill>
              </a:defRPr>
            </a:pPr>
            <a:r>
              <a:t>敵は視界だけでなく「音」でもプレイヤーを探知します。不用意に走ったり発砲すると周囲の敵を引き寄せるため、隠れてやり過ごすか、先手を打って仕掛けるかの判断が生まれます。</a:t>
            </a:r>
          </a:p>
          <a:p>
            <a:pPr>
              <a:spcAft>
                <a:spcPts val="300"/>
              </a:spcAft>
              <a:defRPr sz="1350" b="1">
                <a:solidFill>
                  <a:srgbClr val="1E293B"/>
                </a:solidFill>
              </a:defRPr>
            </a:pPr>
            <a:r>
              <a:t>● 脱出直前に訪れる「増援クライマックス」</a:t>
            </a:r>
          </a:p>
          <a:p>
            <a:pPr>
              <a:spcAft>
                <a:spcPts val="1400"/>
              </a:spcAft>
              <a:defRPr sz="1150">
                <a:solidFill>
                  <a:srgbClr val="334155"/>
                </a:solidFill>
              </a:defRPr>
            </a:pPr>
            <a:r>
              <a:t>3つの拠点を破壊すると脱出ゲートが開きますが、同時にサイレン警報が鳴り敵の増援が急襲。「最後の最後が一番危ない」という起承転結をコードで演出しました。</a:t>
            </a:r>
          </a:p>
          <a:p>
            <a:pPr>
              <a:defRPr sz="1100" b="1">
                <a:solidFill>
                  <a:srgbClr val="C2410C"/>
                </a:solidFill>
              </a:defRPr>
            </a:pPr>
            <a:r>
              <a:t>【目指したゲーム性】コミカルなアヒルの見た目とは裏腹に、リソース（弾薬・回復）と位置取りをシビアに管理する本格的なシューター体験を目指しました。</a:t>
            </a:r>
          </a:p>
        </p:txBody>
      </p:sp>
      <p:sp>
        <p:nvSpPr>
          <p:cNvPr id="9" name="Rounded Rectangle 8"/>
          <p:cNvSpPr/>
          <p:nvPr/>
        </p:nvSpPr>
        <p:spPr>
          <a:xfrm>
            <a:off x="6492240" y="2468880"/>
            <a:ext cx="4937760" cy="384048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400" b="1">
                <a:solidFill>
                  <a:srgbClr val="1E293B"/>
                </a:solidFill>
                <a:latin typeface="Meiryo"/>
              </a:defRPr>
            </a:pPr>
            <a:r>
              <a:t>全体ゲームプレイ画面</a:t>
            </a:r>
          </a:p>
          <a:p>
            <a:pPr algn="ctr">
              <a:defRPr sz="1100">
                <a:solidFill>
                  <a:srgbClr val="64748B"/>
                </a:solidFill>
                <a:latin typeface="Meiryo"/>
              </a:defRPr>
            </a:pPr>
            <a:r>
              <a:t>トップダウン視点・廃工場マップ・敵との位置関係・アヒル主人公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200"/>
              </a:spcAft>
              <a:defRPr sz="1100" b="1">
                <a:solidFill>
                  <a:srgbClr val="C2410C"/>
                </a:solidFill>
                <a:latin typeface="Meiryo"/>
              </a:defRPr>
            </a:pPr>
            <a:r>
              <a:t>02 ｜ 技術のこだわり ①</a:t>
            </a:r>
          </a:p>
          <a:p>
            <a:pPr>
              <a:spcAft>
                <a:spcPts val="400"/>
              </a:spcAft>
              <a:defRPr sz="2200" b="1">
                <a:solidFill>
                  <a:srgbClr val="1E293B"/>
                </a:solidFill>
                <a:latin typeface="Meiryo"/>
              </a:defRPr>
            </a:pPr>
            <a:r>
              <a:t>敵AIの知覚連携と、撃ち合いの手触り</a:t>
            </a:r>
          </a:p>
          <a:p>
            <a:pPr>
              <a:defRPr sz="1300">
                <a:solidFill>
                  <a:srgbClr val="0284C7"/>
                </a:solidFill>
                <a:latin typeface="Meiryo"/>
              </a:defRPr>
            </a:pPr>
            <a:r>
              <a:t>ただ突っ込んでくるだけの敵をなくし、音と仲間連携でプレイヤーを追い詰める</a:t>
            </a:r>
          </a:p>
        </p:txBody>
      </p:sp>
      <p:sp>
        <p:nvSpPr>
          <p:cNvPr id="4" name="TextBox 3"/>
          <p:cNvSpPr txBox="1"/>
          <p:nvPr/>
        </p:nvSpPr>
        <p:spPr>
          <a:xfrm>
            <a:off x="731520" y="1737360"/>
            <a:ext cx="5486400" cy="4572000"/>
          </a:xfrm>
          <a:prstGeom prst="rect">
            <a:avLst/>
          </a:prstGeom>
          <a:noFill/>
        </p:spPr>
        <p:txBody>
          <a:bodyPr wrap="square">
            <a:spAutoFit/>
          </a:bodyPr>
          <a:lstStyle/>
          <a:p>
            <a:pPr>
              <a:spcAft>
                <a:spcPts val="300"/>
              </a:spcAft>
              <a:defRPr sz="1350" b="1">
                <a:solidFill>
                  <a:srgbClr val="1E293B"/>
                </a:solidFill>
              </a:defRPr>
            </a:pPr>
            <a:r>
              <a:t>● 視覚だけでなく「音」でプレイヤーを探す敵AI</a:t>
            </a:r>
          </a:p>
          <a:p>
            <a:pPr>
              <a:spcAft>
                <a:spcPts val="1400"/>
              </a:spcAft>
              <a:defRPr sz="1150">
                <a:solidFill>
                  <a:srgbClr val="334155"/>
                </a:solidFill>
              </a:defRPr>
            </a:pPr>
            <a:r>
              <a:t>銃声やダッシュした足音を聞きつけて、その発生場所に警戒しながら集まります。視界（65度）に入っても、物陰に隠れれば見失うため、ステルスでやり過ごす緊張感を作りました。</a:t>
            </a:r>
          </a:p>
          <a:p>
            <a:pPr>
              <a:spcAft>
                <a:spcPts val="300"/>
              </a:spcAft>
              <a:defRPr sz="1350" b="1">
                <a:solidFill>
                  <a:srgbClr val="1E293B"/>
                </a:solidFill>
              </a:defRPr>
            </a:pPr>
            <a:r>
              <a:t>● 仲間を呼んで包囲してくる連携ロジック</a:t>
            </a:r>
          </a:p>
          <a:p>
            <a:pPr>
              <a:spcAft>
                <a:spcPts val="1400"/>
              </a:spcAft>
              <a:defRPr sz="1150">
                <a:solidFill>
                  <a:srgbClr val="334155"/>
                </a:solidFill>
              </a:defRPr>
            </a:pPr>
            <a:r>
              <a:t>プレイヤーを見つけた敵は周囲の仲間に警戒を伝達し、一斉に集結して挟み撃ちにしてきます。単体で突撃してくるだけの単調さをなくし、常に退路を考えさせます。</a:t>
            </a:r>
          </a:p>
          <a:p>
            <a:pPr>
              <a:spcAft>
                <a:spcPts val="300"/>
              </a:spcAft>
              <a:defRPr sz="1350" b="1">
                <a:solidFill>
                  <a:srgbClr val="1E293B"/>
                </a:solidFill>
              </a:defRPr>
            </a:pPr>
            <a:r>
              <a:t>● 立ち止まって狙うか、逃げながら撃つかのメリハリ</a:t>
            </a:r>
          </a:p>
          <a:p>
            <a:pPr>
              <a:spcAft>
                <a:spcPts val="1400"/>
              </a:spcAft>
              <a:defRPr sz="1150">
                <a:solidFill>
                  <a:srgbClr val="334155"/>
                </a:solidFill>
              </a:defRPr>
            </a:pPr>
            <a:r>
              <a:t>移動しながら撃つと弾が大きくブレる「移動ペナルティ」を実装。足を止めて正確に当てるメリットを強調しました。緊急回避（ローリング）は無敵があるもののスタミナを消費し、連発できない設計にしています。</a:t>
            </a:r>
          </a:p>
          <a:p>
            <a:pPr>
              <a:defRPr sz="1100" b="1">
                <a:solidFill>
                  <a:srgbClr val="C2410C"/>
                </a:solidFill>
              </a:defRPr>
            </a:pPr>
            <a:r>
              <a:t>【実装の工夫】敵の数値をただ強くするのではなく、「音を立てずに進む」「見つかったら囲まれる前に引く」というプレイヤーの駆け引きをコードで作りました。</a:t>
            </a:r>
          </a:p>
        </p:txBody>
      </p:sp>
      <p:pic>
        <p:nvPicPr>
          <p:cNvPr id="5" name="Picture 4" descr="behavior_tree_concept.png"/>
          <p:cNvPicPr>
            <a:picLocks noChangeAspect="1"/>
          </p:cNvPicPr>
          <p:nvPr/>
        </p:nvPicPr>
        <p:blipFill>
          <a:blip r:embed="rId2"/>
          <a:stretch>
            <a:fillRect/>
          </a:stretch>
        </p:blipFill>
        <p:spPr>
          <a:xfrm>
            <a:off x="6492240" y="1737360"/>
            <a:ext cx="493776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200"/>
              </a:spcAft>
              <a:defRPr sz="1100" b="1">
                <a:solidFill>
                  <a:srgbClr val="C2410C"/>
                </a:solidFill>
                <a:latin typeface="Meiryo"/>
              </a:defRPr>
            </a:pPr>
            <a:r>
              <a:t>03 ｜ 技術のこだわり ②</a:t>
            </a:r>
          </a:p>
          <a:p>
            <a:pPr>
              <a:spcAft>
                <a:spcPts val="400"/>
              </a:spcAft>
              <a:defRPr sz="2200" b="1">
                <a:solidFill>
                  <a:srgbClr val="1E293B"/>
                </a:solidFill>
                <a:latin typeface="Meiryo"/>
              </a:defRPr>
            </a:pPr>
            <a:r>
              <a:t>状況が直感的に伝わる情報提示UI</a:t>
            </a:r>
          </a:p>
          <a:p>
            <a:pPr>
              <a:defRPr sz="1300">
                <a:solidFill>
                  <a:srgbClr val="0284C7"/>
                </a:solidFill>
                <a:latin typeface="Meiryo"/>
              </a:defRPr>
            </a:pPr>
            <a:r>
              <a:t>文字を読まなくても、視覚エフェクトで「危険度」と「被弾方向」がわかる工夫</a:t>
            </a:r>
          </a:p>
        </p:txBody>
      </p:sp>
      <p:sp>
        <p:nvSpPr>
          <p:cNvPr id="4" name="TextBox 3"/>
          <p:cNvSpPr txBox="1"/>
          <p:nvPr/>
        </p:nvSpPr>
        <p:spPr>
          <a:xfrm>
            <a:off x="731520" y="1737360"/>
            <a:ext cx="5486400" cy="4572000"/>
          </a:xfrm>
          <a:prstGeom prst="rect">
            <a:avLst/>
          </a:prstGeom>
          <a:noFill/>
        </p:spPr>
        <p:txBody>
          <a:bodyPr wrap="square">
            <a:spAutoFit/>
          </a:bodyPr>
          <a:lstStyle/>
          <a:p>
            <a:pPr>
              <a:spcAft>
                <a:spcPts val="300"/>
              </a:spcAft>
              <a:defRPr sz="1350" b="1">
                <a:solidFill>
                  <a:srgbClr val="1E293B"/>
                </a:solidFill>
              </a:defRPr>
            </a:pPr>
            <a:r>
              <a:t>● どこまで音が届いたかがわかる「音紋リング」</a:t>
            </a:r>
          </a:p>
          <a:p>
            <a:pPr>
              <a:spcAft>
                <a:spcPts val="1400"/>
              </a:spcAft>
              <a:defRPr sz="1150">
                <a:solidFill>
                  <a:srgbClr val="334155"/>
                </a:solidFill>
              </a:defRPr>
            </a:pPr>
            <a:r>
              <a:t>走ったり発砲した瞬間、「敵にどこまで音が届いているか」を地面に広がる円形エフェクトで可視化。「今のはマズい、走って逃げよう」とプレイヤー自身が直感的に気づけるようにしました。</a:t>
            </a:r>
          </a:p>
          <a:p>
            <a:pPr>
              <a:spcAft>
                <a:spcPts val="300"/>
              </a:spcAft>
              <a:defRPr sz="1350" b="1">
                <a:solidFill>
                  <a:srgbClr val="1E293B"/>
                </a:solidFill>
              </a:defRPr>
            </a:pPr>
            <a:r>
              <a:t>● 死角から撃たれても即座にわかる「360度被弾アロー」</a:t>
            </a:r>
          </a:p>
          <a:p>
            <a:pPr>
              <a:spcAft>
                <a:spcPts val="1400"/>
              </a:spcAft>
              <a:defRPr sz="1150">
                <a:solidFill>
                  <a:srgbClr val="334155"/>
                </a:solidFill>
              </a:defRPr>
            </a:pPr>
            <a:r>
              <a:t>トップダウン視点でもどこから撃たれたか迷わないよう、プレイヤー中心の円環矢印で弾の飛来方向を明示。体力が減ると画面縁が暗赤色に拍動し、ピンチを体感させます。</a:t>
            </a:r>
          </a:p>
          <a:p>
            <a:pPr>
              <a:spcAft>
                <a:spcPts val="300"/>
              </a:spcAft>
              <a:defRPr sz="1350" b="1">
                <a:solidFill>
                  <a:srgbClr val="1E293B"/>
                </a:solidFill>
              </a:defRPr>
            </a:pPr>
            <a:r>
              <a:t>● 物資探索（死体漁り）の無防備タイマーとリザルト精算</a:t>
            </a:r>
          </a:p>
          <a:p>
            <a:pPr>
              <a:spcAft>
                <a:spcPts val="1400"/>
              </a:spcAft>
              <a:defRPr sz="1150">
                <a:solidFill>
                  <a:srgbClr val="334155"/>
                </a:solidFill>
              </a:defRPr>
            </a:pPr>
            <a:r>
              <a:t>敵の死体を漁るには長押しが必要（0.8秒）。途中で動くとキャンセルされるため、周囲を警戒しながら欲張る駆け引きを表現。クリア時には換金総額や命中率を集計します。</a:t>
            </a:r>
          </a:p>
          <a:p>
            <a:pPr>
              <a:defRPr sz="1100" b="1">
                <a:solidFill>
                  <a:srgbClr val="C2410C"/>
                </a:solidFill>
              </a:defRPr>
            </a:pPr>
            <a:r>
              <a:t>【設計の工夫】UI描画クラスがゲームロジックを直接触らないよう、読み取り専用のコンテキスト構造体を受け取る疎結合設計にし、演出の追加や変更を容易にしました。</a:t>
            </a:r>
          </a:p>
        </p:txBody>
      </p:sp>
      <p:pic>
        <p:nvPicPr>
          <p:cNvPr id="5" name="Picture 4" descr="class_design.png"/>
          <p:cNvPicPr>
            <a:picLocks noChangeAspect="1"/>
          </p:cNvPicPr>
          <p:nvPr/>
        </p:nvPicPr>
        <p:blipFill>
          <a:blip r:embed="rId2"/>
          <a:stretch>
            <a:fillRect/>
          </a:stretch>
        </p:blipFill>
        <p:spPr>
          <a:xfrm>
            <a:off x="6492240" y="1737360"/>
            <a:ext cx="493776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200"/>
              </a:spcAft>
              <a:defRPr sz="1100" b="1">
                <a:solidFill>
                  <a:srgbClr val="C2410C"/>
                </a:solidFill>
                <a:latin typeface="Meiryo"/>
              </a:defRPr>
            </a:pPr>
            <a:r>
              <a:t>04 ｜ 技術のこだわり ③</a:t>
            </a:r>
          </a:p>
          <a:p>
            <a:pPr>
              <a:spcAft>
                <a:spcPts val="400"/>
              </a:spcAft>
              <a:defRPr sz="2200" b="1">
                <a:solidFill>
                  <a:srgbClr val="1E293B"/>
                </a:solidFill>
                <a:latin typeface="Meiryo"/>
              </a:defRPr>
            </a:pPr>
            <a:r>
              <a:t>高速戦闘を支える、自作の精密衝突判定基盤</a:t>
            </a:r>
          </a:p>
          <a:p>
            <a:pPr>
              <a:defRPr sz="1300">
                <a:solidFill>
                  <a:srgbClr val="0284C7"/>
                </a:solidFill>
                <a:latin typeface="Meiryo"/>
              </a:defRPr>
            </a:pPr>
            <a:r>
              <a:t>「弾がすり抜ける」「斜め壁に引っかかる」などの手触りストレスを数学的に徹底排除</a:t>
            </a:r>
          </a:p>
        </p:txBody>
      </p:sp>
      <p:sp>
        <p:nvSpPr>
          <p:cNvPr id="4" name="TextBox 3"/>
          <p:cNvSpPr txBox="1"/>
          <p:nvPr/>
        </p:nvSpPr>
        <p:spPr>
          <a:xfrm>
            <a:off x="731520" y="1737360"/>
            <a:ext cx="5486400" cy="4572000"/>
          </a:xfrm>
          <a:prstGeom prst="rect">
            <a:avLst/>
          </a:prstGeom>
          <a:noFill/>
        </p:spPr>
        <p:txBody>
          <a:bodyPr wrap="square">
            <a:spAutoFit/>
          </a:bodyPr>
          <a:lstStyle/>
          <a:p>
            <a:pPr>
              <a:spcAft>
                <a:spcPts val="300"/>
              </a:spcAft>
              <a:defRPr sz="1350" b="1">
                <a:solidFill>
                  <a:srgbClr val="1E293B"/>
                </a:solidFill>
              </a:defRPr>
            </a:pPr>
            <a:r>
              <a:t>● 高速弾のすり抜けを完全阻止する「Swept-Capsule CCD」</a:t>
            </a:r>
          </a:p>
          <a:p>
            <a:pPr>
              <a:spcAft>
                <a:spcPts val="1400"/>
              </a:spcAft>
              <a:defRPr sz="1150">
                <a:solidFill>
                  <a:srgbClr val="334155"/>
                </a:solidFill>
              </a:defRPr>
            </a:pPr>
            <a:r>
              <a:t>前後フレームの弾丸移動を連続した線分とし、障害物との交差パラメータ t（0.0〜1.0）を解く連続衝突判定（CCD）を自作。どんなに高速な弾丸でも薄い壁をすり抜けない強固な着弾保証を実現しました。</a:t>
            </a:r>
          </a:p>
          <a:p>
            <a:pPr>
              <a:spcAft>
                <a:spcPts val="300"/>
              </a:spcAft>
              <a:defRPr sz="1350" b="1">
                <a:solidFill>
                  <a:srgbClr val="1E293B"/>
                </a:solidFill>
              </a:defRPr>
            </a:pPr>
            <a:r>
              <a:t>● 自由な角度の壁に密着できる「Slab法 任意回転OBB」</a:t>
            </a:r>
          </a:p>
          <a:p>
            <a:pPr>
              <a:spcAft>
                <a:spcPts val="1400"/>
              </a:spcAft>
              <a:defRPr sz="1150">
                <a:solidFill>
                  <a:srgbClr val="334155"/>
                </a:solidFill>
              </a:defRPr>
            </a:pPr>
            <a:r>
              <a:t>AABB（軸平行）では不可能な斜めの遮蔽物・障害物に対し、3x3ローカル回転基底へ射影するSlab法を採用。傾いたオブジェクトに対しても隙間や引っかかりのない精密な当たり判定を構築しました。</a:t>
            </a:r>
          </a:p>
          <a:p>
            <a:pPr>
              <a:spcAft>
                <a:spcPts val="300"/>
              </a:spcAft>
              <a:defRPr sz="1350" b="1">
                <a:solidFill>
                  <a:srgbClr val="1E293B"/>
                </a:solidFill>
              </a:defRPr>
            </a:pPr>
            <a:r>
              <a:t>● オブジェクト増加でも破綻しない「空間分割ハッシュ O(1)」</a:t>
            </a:r>
          </a:p>
          <a:p>
            <a:pPr>
              <a:spcAft>
                <a:spcPts val="1400"/>
              </a:spcAft>
              <a:defRPr sz="1150">
                <a:solidFill>
                  <a:srgbClr val="334155"/>
                </a:solidFill>
              </a:defRPr>
            </a:pPr>
            <a:r>
              <a:t>総当たり判定 O(N²) を廃止し、2048エントリの空間ハッシュグリッド（セル幅10m）を実装。弾丸近傍のオブジェクトのみを定数時間 O(1) で高速探索し、60fps固定を堅持します。</a:t>
            </a:r>
          </a:p>
          <a:p>
            <a:pPr>
              <a:defRPr sz="1100" b="1">
                <a:solidFill>
                  <a:srgbClr val="C2410C"/>
                </a:solidFill>
              </a:defRPr>
            </a:pPr>
            <a:r>
              <a:t>【エンジンの真価】市販エンジンに頼らず、交差数式や空間ハッシュを自らC++でコーディングすることで、ゲームに求められる「当たり判定の心地よさ」と「60fps固定の軽さ」を両立させました。</a:t>
            </a:r>
          </a:p>
        </p:txBody>
      </p:sp>
      <p:pic>
        <p:nvPicPr>
          <p:cNvPr id="5" name="Picture 4" descr="slide4_collision_fixed.png"/>
          <p:cNvPicPr>
            <a:picLocks noChangeAspect="1"/>
          </p:cNvPicPr>
          <p:nvPr/>
        </p:nvPicPr>
        <p:blipFill>
          <a:blip r:embed="rId2"/>
          <a:stretch>
            <a:fillRect/>
          </a:stretch>
        </p:blipFill>
        <p:spPr>
          <a:xfrm>
            <a:off x="6492240" y="1737360"/>
            <a:ext cx="4937760" cy="4572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200"/>
              </a:spcAft>
              <a:defRPr sz="1100" b="1">
                <a:solidFill>
                  <a:srgbClr val="C2410C"/>
                </a:solidFill>
                <a:latin typeface="Meiryo"/>
              </a:defRPr>
            </a:pPr>
            <a:r>
              <a:t>05 ｜ 社員相談</a:t>
            </a:r>
          </a:p>
          <a:p>
            <a:pPr>
              <a:spcAft>
                <a:spcPts val="400"/>
              </a:spcAft>
              <a:defRPr sz="2200" b="1">
                <a:solidFill>
                  <a:srgbClr val="1E293B"/>
                </a:solidFill>
                <a:latin typeface="Meiryo"/>
              </a:defRPr>
            </a:pPr>
            <a:r>
              <a:t>現場のプログラマ社員の方に相談したいこと</a:t>
            </a:r>
          </a:p>
          <a:p>
            <a:pPr>
              <a:defRPr sz="1300">
                <a:solidFill>
                  <a:srgbClr val="0284C7"/>
                </a:solidFill>
                <a:latin typeface="Meiryo"/>
              </a:defRPr>
            </a:pPr>
            <a:r>
              <a:t>作品のこれからの拡張と、就職活動での技術アピールについてアドバイスをいただきたいです</a:t>
            </a:r>
          </a:p>
        </p:txBody>
      </p:sp>
      <p:sp>
        <p:nvSpPr>
          <p:cNvPr id="4" name="Rounded Rectangle 3"/>
          <p:cNvSpPr/>
          <p:nvPr/>
        </p:nvSpPr>
        <p:spPr>
          <a:xfrm>
            <a:off x="731520" y="182880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C2410C"/>
                </a:solidFill>
              </a:defRPr>
            </a:pPr>
            <a:r>
              <a:t>01 ｜ 作品についての相談</a:t>
            </a:r>
          </a:p>
          <a:p>
            <a:pPr>
              <a:spcAft>
                <a:spcPts val="1400"/>
              </a:spcAft>
              <a:defRPr sz="1600" b="1">
                <a:solidFill>
                  <a:srgbClr val="1E293B"/>
                </a:solidFill>
              </a:defRPr>
            </a:pPr>
            <a:r>
              <a:t>敵AIやゲーム規模が大きくなったときの</a:t>
            </a:r>
            <a:br/>
            <a:r>
              <a:t>現場のコード設計について</a:t>
            </a:r>
          </a:p>
          <a:p>
            <a:pPr>
              <a:defRPr sz="1200">
                <a:solidFill>
                  <a:srgbClr val="334155"/>
                </a:solidFill>
              </a:defRPr>
            </a:pPr>
            <a:r>
              <a:t>本作ではFSMに加え、ImGuiでノードを繋ぐ「自作ビヘイビアツリーエディタ」を構築しました。</a:t>
            </a:r>
            <a:br/>
            <a:br/>
            <a:r>
              <a:t>今後、敵の種類（近接兵・スナイパー等）や複雑な包囲行動を追加していくにあたり、</a:t>
            </a:r>
            <a:br/>
            <a:br/>
            <a:r>
              <a:t>商業開発の現場では、「AIの肥大化を防ぎ、プランナーとも協調しながら破綻せずに拡張していくために、どのようなBehavior Treeやタスクシステムの設計・運用をしているか」を伺いたいです。</a:t>
            </a:r>
          </a:p>
        </p:txBody>
      </p:sp>
      <p:sp>
        <p:nvSpPr>
          <p:cNvPr id="5" name="Rounded Rectangle 4"/>
          <p:cNvSpPr/>
          <p:nvPr/>
        </p:nvSpPr>
        <p:spPr>
          <a:xfrm>
            <a:off x="6309360" y="182880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C2410C"/>
                </a:solidFill>
              </a:defRPr>
            </a:pPr>
            <a:r>
              <a:t>02 ｜ 就職活動全般の相談</a:t>
            </a:r>
          </a:p>
          <a:p>
            <a:pPr>
              <a:spcAft>
                <a:spcPts val="1400"/>
              </a:spcAft>
              <a:defRPr sz="1600" b="1">
                <a:solidFill>
                  <a:srgbClr val="1E293B"/>
                </a:solidFill>
              </a:defRPr>
            </a:pPr>
            <a:r>
              <a:t>自作ツール・エンジン経験と</a:t>
            </a:r>
            <a:br/>
            <a:r>
              <a:t>ゲームプレイ実装のアピールバランス</a:t>
            </a:r>
          </a:p>
          <a:p>
            <a:pPr>
              <a:defRPr sz="1200">
                <a:solidFill>
                  <a:srgbClr val="334155"/>
                </a:solidFill>
              </a:defRPr>
            </a:pPr>
            <a:r>
              <a:t>自作DirectX 12エンジンや開発用エディタを作ることで制作環境を整えつつ、本作では「遊んで気持ちいいゲームプレイ」を最優先に作り込みました。</a:t>
            </a:r>
            <a:br/>
            <a:br/>
            <a:r>
              <a:t>商用エンジン（Unreal/Unity）での開発が主流の今、新卒採用の現場において、</a:t>
            </a:r>
            <a:br/>
            <a:br/>
            <a:r>
              <a:t>「ツールやエンジンを自作できる技術力」と「ゲームの手触りや面白さを作る力」をどのような切り口や比率で伝えると、ゲームプログラマとして最も評価されるかを教えていただきたいです。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